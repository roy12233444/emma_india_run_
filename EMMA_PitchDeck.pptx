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-1066" y="-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6CCBB-0683-4F0F-9DFF-DA4A0720587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993C9-C1A6-42A9-B03F-91AE264F6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023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2926080"/>
            <a:ext cx="4114800" cy="4114800"/>
          </a:xfrm>
          <a:prstGeom prst="ellipse">
            <a:avLst/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India Runs Hackathon  ·  Redrob AI  ·  Track 2: Ideathon  ·  Challenge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686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548640" y="23225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Metacognitive Multi-Agent Fleet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self-correcting, and collectively evolving AI agent workforce — built to automate complex, long-running enterprise tasks with mathematical alignment guarantees.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944368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1  ·  AI Systems Architect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3977640"/>
            <a:ext cx="2852928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9776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42-Day Build  ·  EMMA Command Center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0" y="3977640"/>
            <a:ext cx="1554480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977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Reimagining Work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THE CHALLENGE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Crisis of Enterprise Copilots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4005072" cy="1664208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54864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80% Completion Cap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3730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lack intrinsic self-reflection. Without knowing their own knowledge boundaries, they silently hallucinate and cascade token errors — causing 60–80% of complex autonomous tasks to fail before delivery.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07008"/>
            <a:ext cx="4005072" cy="1664208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207008"/>
            <a:ext cx="54864" cy="16642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29844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</a:t>
            </a:r>
            <a:r>
              <a:rPr lang="en-US" sz="13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 err="1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r>
              <a:rPr lang="en-US" sz="13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2896" y="1645920"/>
            <a:ext cx="3730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starts from zero. A successful run on Machine A has zero influence on Machine B. No shared execution intelligence — no compounding, no institutional memory, no collective evolution.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810512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8105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089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n-US" sz="1350" b="1" dirty="0" smtClean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</a:t>
            </a:r>
            <a:r>
              <a:rPr lang="en-US" sz="13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Safety Barrier — Alignment Drift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7863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Drift — agents semantically deviating from their original goals mid-execution — is the primary reason enterprises block agentic deployments entirely. A single rogue planning loop can consume compute budgets, corrupt data, or create infinite execution cycles. Without a quantifiable drift index, safety is subjective and unenforceable.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Work with EMMA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Autonomous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replaces single-turn chatbots with a persistent, self-healing multi-agent fleet. Agents plan, execute, critique their output, correct course, and share successful execution paths across the entire organisation — automatically.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42-Day Milestone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Command Center Console — a web prototype demonstrating real-time agent thought streams, critique diffs, Goal Drift gauges, and safety overrides. A live proof-of-concept of every EMMA pillar.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87952"/>
            <a:ext cx="132588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879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92808" y="4187952"/>
            <a:ext cx="132588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41879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Evolution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4187952"/>
            <a:ext cx="132588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41879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Safety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56048" y="1188720"/>
            <a:ext cx="32004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 Input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56248" y="1554480"/>
            <a:ext cx="0" cy="18288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1737360"/>
            <a:ext cx="320040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56048" y="2267712"/>
            <a:ext cx="3200400" cy="0"/>
          </a:xfrm>
          <a:prstGeom prst="line">
            <a:avLst/>
          </a:prstGeom>
          <a:noFill/>
          <a:ln w="15240">
            <a:solidFill>
              <a:srgbClr val="1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04104" y="2267712"/>
            <a:ext cx="0" cy="201168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468880"/>
            <a:ext cx="896112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468880"/>
            <a:ext cx="89611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(Planner)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56248" y="2267712"/>
            <a:ext cx="0" cy="201168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2468880"/>
            <a:ext cx="896112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468880"/>
            <a:ext cx="89611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(Executor)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08392" y="2267712"/>
            <a:ext cx="0" cy="201168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2468880"/>
            <a:ext cx="896112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2468880"/>
            <a:ext cx="89611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56248" y="2889504"/>
            <a:ext cx="0" cy="201168"/>
          </a:xfrm>
          <a:prstGeom prst="line">
            <a:avLst/>
          </a:prstGeom>
          <a:noFill/>
          <a:ln w="1524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41848" y="3090672"/>
            <a:ext cx="182880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848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GDI Monitor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56248" y="3456432"/>
            <a:ext cx="0" cy="201168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657600"/>
            <a:ext cx="2651760" cy="365760"/>
          </a:xfrm>
          <a:prstGeom prst="rect">
            <a:avLst/>
          </a:prstGeom>
          <a:solidFill>
            <a:srgbClr val="0D231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Enterprise Output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PILLAR 1 — METACOGNITION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Metacognition: Self-Correcting Loops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82296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50292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"Thinking about thinking." Before an agent writes a single line of output, EMMA agents interrogate their own capability boundaries, decompose goals into verifiable sub-tasks, and critique every artifact against a formal specification.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2761488" cy="2944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4572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182880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— Knowledge Boundary Probe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issues a structured self-capability query before acting. If confidence falls below threshold κ = 0.72, it raises a scoped clarification request rather than proceeding with incomplete information.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55848" y="1810512"/>
            <a:ext cx="2761488" cy="2944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810512"/>
            <a:ext cx="457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67912" y="182880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Dynamic Checklist Decomposition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2240280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are decomposed into an ordered, dependency-aware task graph with explicit acceptance criteria per node — estimated token budget, expected output type, and sandbox validation flag per step.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54496" y="1810512"/>
            <a:ext cx="2761488" cy="2944368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810512"/>
            <a:ext cx="457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82880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/ Critique — Self-Healing Execution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45936" y="2240280"/>
            <a:ext cx="257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is passed to a stateless Critic Agent applying AST-level structural diffing, semantic similarity scoring, and sandbox execution with assertion checks — returning scored correction patches.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PILLAR 1 — CRITIQUE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Critique-Refinement Loop in Action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72768"/>
            <a:ext cx="9601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72768"/>
            <a:ext cx="960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07592" y="1792224"/>
            <a:ext cx="164592" cy="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572768"/>
            <a:ext cx="9601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1572768"/>
            <a:ext cx="960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≥ 0.72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1792224"/>
            <a:ext cx="164592" cy="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96896" y="1572768"/>
            <a:ext cx="9601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572768"/>
            <a:ext cx="960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Graph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57016" y="1792224"/>
            <a:ext cx="164592" cy="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1608" y="1572768"/>
            <a:ext cx="9601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1572768"/>
            <a:ext cx="960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1792224"/>
            <a:ext cx="164592" cy="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572768"/>
            <a:ext cx="9601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72768"/>
            <a:ext cx="960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71032" y="1572768"/>
            <a:ext cx="1207008" cy="438912"/>
          </a:xfrm>
          <a:prstGeom prst="rect">
            <a:avLst/>
          </a:prstGeom>
          <a:solidFill>
            <a:srgbClr val="0D231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1572768"/>
            <a:ext cx="120700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Output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1792224"/>
            <a:ext cx="164592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353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≥ 0.88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42632" y="1572768"/>
            <a:ext cx="1261872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572768"/>
            <a:ext cx="126187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792224"/>
            <a:ext cx="164592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6380" y="2011680"/>
            <a:ext cx="0" cy="347472"/>
          </a:xfrm>
          <a:prstGeom prst="line">
            <a:avLst/>
          </a:prstGeom>
          <a:noFill/>
          <a:ln w="1524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2100" y="2048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0.88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21608" y="2359152"/>
            <a:ext cx="2084832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359152"/>
            <a:ext cx="20848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Patch  →  Re-Execute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1668" y="2359152"/>
            <a:ext cx="0" cy="438912"/>
          </a:xfrm>
          <a:prstGeom prst="line">
            <a:avLst/>
          </a:prstGeom>
          <a:noFill/>
          <a:ln w="1524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52244" y="2011680"/>
            <a:ext cx="0" cy="34747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7964" y="20482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 &lt; 0.72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" y="2359152"/>
            <a:ext cx="2084832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359152"/>
            <a:ext cx="20848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Req.  →  Re-Assess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7532" y="2359152"/>
            <a:ext cx="0" cy="43891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33088"/>
            <a:ext cx="2029968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Threshold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4443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0.88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633472" y="4133088"/>
            <a:ext cx="2029968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Refinement Passes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0" y="4443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09744" y="4133088"/>
            <a:ext cx="2029968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Strategy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4443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AST-level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86016" y="4133088"/>
            <a:ext cx="2029968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8DAF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95744" y="44439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Subprocess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26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PILLAR 2 — GEA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Group-Evolving Agents: The Experience Manifold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Manifold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vector-indexed, execution-path database that turns every successful agent run into a reusable intelligence asset. When any future agent faces a semantically similar goal (cosine similarity &gt; 0.85), it retrieves the prior path as a high-confidence prior — slashing planning tokens and failure iterations.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makes the entire fleet smarter. Token costs fall compoundingly. Organisations accumulate a proprietary intelligence asset that competitors cannot replicate.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2560320" cy="731520"/>
          </a:xfrm>
          <a:prstGeom prst="rect">
            <a:avLst/>
          </a:prstGeom>
          <a:solidFill>
            <a:srgbClr val="08142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Manifold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  ·  Semantic Index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207008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12070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58384" y="1417320"/>
            <a:ext cx="16824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417320"/>
            <a:ext cx="0" cy="109728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459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Successful run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863840" y="1188720"/>
            <a:ext cx="1207008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188720"/>
            <a:ext cx="12070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1426464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417320"/>
            <a:ext cx="0" cy="109728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6459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 variation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1207008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12070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58384" y="3474720"/>
            <a:ext cx="168249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2514600"/>
            <a:ext cx="0" cy="96012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7033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Refined path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63840" y="3246120"/>
            <a:ext cx="1207008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8DA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246120"/>
            <a:ext cx="12070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3474720"/>
            <a:ext cx="1426464" cy="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514600"/>
            <a:ext cx="0" cy="960120"/>
          </a:xfrm>
          <a:prstGeom prst="line">
            <a:avLst/>
          </a:prstGeom>
          <a:noFill/>
          <a:ln w="15240">
            <a:solidFill>
              <a:srgbClr val="8DA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37033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4251960"/>
            <a:ext cx="3749040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2519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Manifold Analytics  ·  Token Savings  ·  Coverage Rate  ·  Drift Baseline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PILLAR 3 — SAFETY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Safety: SAHOO &amp; GDI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822960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5029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cannot be a policy document. EMMA enforces it numerically, structurally, and in real-time.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041648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 Index (GDI)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3730752" cy="420624"/>
          </a:xfrm>
          <a:prstGeom prst="rect">
            <a:avLst/>
          </a:prstGeom>
          <a:solidFill>
            <a:srgbClr val="0D152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GDI  =  α · Δsem  +  β · Δstruct  +  γ · Δscope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7307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Δsem</a:t>
            </a: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cosine distance: current vs. original goal embedding
</a:t>
            </a: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Δstruct</a:t>
            </a: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AST-level structural deviation from accepted schema
</a:t>
            </a: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Δscope</a:t>
            </a: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ratio of in-scope vs. out-of-scope tool invocations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8444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0.35  →  Alert Gate     |     θ = 0.60  →  Hard Rollback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719072"/>
            <a:ext cx="4041648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8105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SAHOO Framework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3168" y="2167128"/>
            <a:ext cx="2926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21854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Execution Isolation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2505456"/>
            <a:ext cx="2926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5054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252374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Constraint Parsing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2843784"/>
            <a:ext cx="2926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8437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28620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Rollback Guards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73168" y="3182112"/>
            <a:ext cx="2926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1821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32004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Override Channel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73168" y="3520440"/>
            <a:ext cx="29260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5204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8928" y="35387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Regression Test Suite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005072"/>
            <a:ext cx="2029968" cy="87782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416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0.35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7200" y="449884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 Threshold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33472" y="4005072"/>
            <a:ext cx="2029968" cy="877824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3472" y="40416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0.60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33472" y="449884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Rollback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9744" y="4005072"/>
            <a:ext cx="2029968" cy="877824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40416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6-Gate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809744" y="449884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SAHOO Sequence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86016" y="4005072"/>
            <a:ext cx="2029968" cy="877824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404164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86016" y="449884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Isolation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42-DAY BUILD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EMMA Command Center Console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production-demonstrable React/Vite web console making every EMMA pillar observable, interactive, and auditable in real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4187952" cy="1517904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9344"/>
            <a:ext cx="4572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655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Thought Stream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terminal output streamed via WebSocket from the FastAPI backend — agent planning steps, tool invocations, and self-queries colour-coded by stage: Plan · Execute · Critique.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609344"/>
            <a:ext cx="4187952" cy="151790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609344"/>
            <a:ext cx="457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6093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58384" y="1655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Diff View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202996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Monaco-style diff panel: Initial Draft (left) vs. Self-Critiqued / Corrected Output (right). Inline annotations surface the Critic Agent's correction rationale at each changed 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4187952" cy="1517904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36976"/>
            <a:ext cx="45720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369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3282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Speedometer (GDI Dial)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SVG arc-dial rendering the live Goal Drift Index — green zone (0–0.35), amber warning (0.35–0.60), red rollback (0.60+). Snaps to a checkpoint marker on every rollback event.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236976"/>
            <a:ext cx="4187952" cy="1517904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236976"/>
            <a:ext cx="457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2369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58384" y="3282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Python Sandbox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19472" y="3657600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code execution routed through an isolated subprocess with memory cap (256 MB), timeout (30 s), and filesystem jail. Execution output and assertion results surface in the sandbox panel.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8988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8988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18/Vite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4144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4144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9300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4456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9612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4768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Sandbox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99248" y="4700016"/>
            <a:ext cx="969264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47000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Monaco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CASE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the User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5029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"Integrate our legacy PostgreSQL reporting database with our new OAuth 2.0 secure API portal."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8229600" cy="2877312"/>
        </p:xfrm>
        <a:graphic>
          <a:graphicData uri="http://schemas.openxmlformats.org/drawingml/2006/table">
            <a:tbl>
              <a:tblPr/>
              <a:tblGrid>
                <a:gridCol w="475488"/>
                <a:gridCol w="5394960"/>
                <a:gridCol w="235915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EMMA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decomposes goal into 4 sub-tasks: schema introspection, OAuth flow build, endpoint mapping, and integration test.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Metacognitive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A queries Experience Manifold — finds a prior OAuth integration path (similarity 0.91).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 Manifold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B executes token exchange flow; receives 401 Unauthorized on legacy header format.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 Agent detects header mismatch via AST diff. GDI reading: 0.28 — within bounds.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GDI Monitor + 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patch generated: replaces Bearer prefix with Token per legacy spec. Sandbox re-run — assertions pass.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Self-Healing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verified execution path pushed to Manifold as oauth_legacy_psql_v1.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Manifold Contribution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developers in the org can now run the same OAuth integration with zero planning tokens.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Fleet-Wide Evolution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solidFill>
            <a:srgbClr val="0D2318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Senior engineer 4-hour session  →  EMMA completes in &lt; 8 minutes, verified, and institutionalised as permanent organisational intelligence.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42-DAY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Build Timeline &amp; Deliverables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3464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4114800"/>
                <a:gridCol w="2560320"/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01–10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system, pitch deck, FastAPI scaffold, React/Vite init, SQLite3 schema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Dev environment live · Architecture 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11–18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Metacognitive Assess/Plan engine, Critic Agent (AST diff + semantic scoring)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Self-correction loop demonstrable end-to-end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3F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19–25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Sandbox harness, GDI computation engine, SAHOO gate sequence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Safety layer operational · Rollback 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26–30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Manifold (pgvector), GEA retrieval &amp; contribution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Fleet learning demonstrable across 3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31–35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Center Dashboard: Thought Stream, Split Diff, Drift Dial, Sandbox Panel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UI-backend integration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36–40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test on real dataset (OAuth + legacy DB case study walkthrough)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Case study walkthrough recorded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41–42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walkthrough production, submission compilation, deck finalisation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Submission ready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43400"/>
            <a:ext cx="202996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361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Pillars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33472" y="4343400"/>
            <a:ext cx="202996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33472" y="4361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8"/>
          <p:cNvSpPr/>
          <p:nvPr/>
        </p:nvSpPr>
        <p:spPr>
          <a:xfrm>
            <a:off x="2633472" y="47091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09744" y="4343400"/>
            <a:ext cx="202996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4361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809744" y="47091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Delivery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86016" y="4343400"/>
            <a:ext cx="202996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86016" y="43616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86016" y="47091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Console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6400800"/>
          </a:xfrm>
          <a:prstGeom prst="ellipse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ENTERPRISE METACOGNITIVE MULTI-AGENT FLEET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412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is Ready.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181051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will never be the same.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doesn't replace human judgment — it amplifies it. Every agent run makes the workforce smarter. Every correction makes the system safer. Every goal achieved compounds into permanent organisational intelligence.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401568"/>
            <a:ext cx="265176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Metacognition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856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know their limits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 themselves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3401568"/>
            <a:ext cx="265176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Group-Evolving Agents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37856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that learns collectively,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isolation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3401568"/>
            <a:ext cx="265176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Safety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37856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you can measure,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promise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D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Safe.  Self-correcting.  Collectively evolving.  —  This is how enterprises will run AI.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9560" y="4846320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1490</Words>
  <Application>Microsoft Office PowerPoint</Application>
  <PresentationFormat>On-screen Show (16:9)</PresentationFormat>
  <Paragraphs>251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 – Enterprise Metacognitive Multi-Agent Fleet</dc:title>
  <dc:subject>PptxGenJS Presentation</dc:subject>
  <dc:creator>Nexus Lab</dc:creator>
  <cp:lastModifiedBy>souravray4491@gmail.com</cp:lastModifiedBy>
  <cp:revision>5</cp:revision>
  <dcterms:created xsi:type="dcterms:W3CDTF">2026-05-23T14:24:30Z</dcterms:created>
  <dcterms:modified xsi:type="dcterms:W3CDTF">2026-05-23T16:08:35Z</dcterms:modified>
</cp:coreProperties>
</file>